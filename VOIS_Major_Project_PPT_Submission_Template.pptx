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9" r:id="rId14"/>
    <p:sldId id="348" r:id="rId15"/>
    <p:sldId id="350" r:id="rId16"/>
    <p:sldId id="351" r:id="rId17"/>
    <p:sldId id="352"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80" d="100"/>
          <a:sy n="80" d="100"/>
        </p:scale>
        <p:origin x="-258" y="222"/>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798121" y="3465160"/>
            <a:ext cx="5852061" cy="861497"/>
          </a:xfrm>
        </p:spPr>
        <p:txBody>
          <a:bodyPr vert="horz" lIns="91440" tIns="45720" rIns="91440" bIns="45720" rtlCol="0" anchor="t">
            <a:normAutofit/>
          </a:bodyPr>
          <a:lstStyle/>
          <a:p>
            <a:r>
              <a:rPr lang="en-IN" b="0" dirty="0" smtClean="0">
                <a:solidFill>
                  <a:schemeClr val="tx1"/>
                </a:solidFill>
              </a:rPr>
              <a:t>Name :   </a:t>
            </a:r>
            <a:r>
              <a:rPr lang="en-IN" b="0" dirty="0" err="1" smtClean="0">
                <a:solidFill>
                  <a:schemeClr val="tx1"/>
                </a:solidFill>
              </a:rPr>
              <a:t>Chinthakunta</a:t>
            </a:r>
            <a:r>
              <a:rPr lang="en-IN" b="0" dirty="0" smtClean="0">
                <a:solidFill>
                  <a:schemeClr val="tx1"/>
                </a:solidFill>
              </a:rPr>
              <a:t> Roselyn</a:t>
            </a:r>
          </a:p>
          <a:p>
            <a:r>
              <a:rPr lang="en-IN" b="0" dirty="0" smtClean="0">
                <a:solidFill>
                  <a:schemeClr val="tx1"/>
                </a:solidFill>
              </a:rPr>
              <a:t>College : </a:t>
            </a:r>
            <a:r>
              <a:rPr lang="en-IN" b="0" dirty="0" err="1" smtClean="0">
                <a:solidFill>
                  <a:schemeClr val="tx1"/>
                </a:solidFill>
              </a:rPr>
              <a:t>Matrusri</a:t>
            </a:r>
            <a:r>
              <a:rPr lang="en-IN" b="0" dirty="0" smtClean="0">
                <a:solidFill>
                  <a:schemeClr val="tx1"/>
                </a:solidFill>
              </a:rPr>
              <a:t> Engineering College</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624896" y="4592813"/>
            <a:ext cx="5775904" cy="369332"/>
          </a:xfrm>
          <a:prstGeom prst="rect">
            <a:avLst/>
          </a:prstGeom>
          <a:noFill/>
        </p:spPr>
        <p:txBody>
          <a:bodyPr wrap="square" rtlCol="0">
            <a:spAutoFit/>
          </a:bodyPr>
          <a:lstStyle/>
          <a:p>
            <a:r>
              <a:rPr lang="en-US" b="1" dirty="0"/>
              <a:t>AICTE STU ID : </a:t>
            </a:r>
            <a:r>
              <a:rPr lang="en-US" b="1" dirty="0"/>
              <a:t>STU6596eb960d3f51704389526 </a:t>
            </a:r>
            <a:endParaRPr lang="en-US" b="1" dirty="0"/>
          </a:p>
        </p:txBody>
      </p:sp>
      <p:sp>
        <p:nvSpPr>
          <p:cNvPr id="5" name="TextBox 4"/>
          <p:cNvSpPr txBox="1"/>
          <p:nvPr/>
        </p:nvSpPr>
        <p:spPr>
          <a:xfrm>
            <a:off x="3431969" y="2921330"/>
            <a:ext cx="7053943" cy="461665"/>
          </a:xfrm>
          <a:prstGeom prst="rect">
            <a:avLst/>
          </a:prstGeom>
          <a:noFill/>
        </p:spPr>
        <p:txBody>
          <a:bodyPr wrap="square" rtlCol="0">
            <a:spAutoFit/>
          </a:bodyPr>
          <a:lstStyle/>
          <a:p>
            <a:r>
              <a:rPr lang="en-IN" sz="2400" dirty="0" smtClean="0"/>
              <a:t>Seasonal Agriculture </a:t>
            </a:r>
            <a:r>
              <a:rPr lang="en-IN" sz="2400" dirty="0"/>
              <a:t>Performance Analysis</a:t>
            </a:r>
            <a:endParaRPr lang="en-IN" sz="24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675955" y="1846717"/>
            <a:ext cx="8954931" cy="4247317"/>
          </a:xfrm>
          <a:prstGeom prst="rect">
            <a:avLst/>
          </a:prstGeom>
          <a:noFill/>
        </p:spPr>
        <p:txBody>
          <a:bodyPr wrap="square" rtlCol="0">
            <a:spAutoFit/>
          </a:bodyPr>
          <a:lstStyle/>
          <a:p>
            <a:r>
              <a:rPr lang="en-US" dirty="0" smtClean="0"/>
              <a:t>This </a:t>
            </a:r>
            <a:r>
              <a:rPr lang="en-US" dirty="0"/>
              <a:t>project focuses on analyzing agricultural data to understand how different factors affect crop production and profitability. The dataset contains information about farms, crops, seasons, weather conditions, soil properties, irrigation methods, fertilizers, pesticides, water usage, yield, production, revenue and profit</a:t>
            </a:r>
            <a:r>
              <a:rPr lang="en-US" dirty="0" smtClean="0"/>
              <a:t>.</a:t>
            </a:r>
          </a:p>
          <a:p>
            <a:endParaRPr lang="en-US" dirty="0"/>
          </a:p>
          <a:p>
            <a:r>
              <a:rPr lang="en-US" dirty="0"/>
              <a:t>We performed data cleaning and exploratory analysis to understand the dataset and then analyzed important relationships between different factors. For example, we studied how </a:t>
            </a:r>
            <a:r>
              <a:rPr lang="en-US" b="1" dirty="0"/>
              <a:t>rainfall, temperature, soil pH, nutrients, irrigation, water usage and disease or pest risk</a:t>
            </a:r>
            <a:r>
              <a:rPr lang="en-US" dirty="0"/>
              <a:t> are related to crop yield. We also compared different crops and irrigation methods based on their yield and profitability</a:t>
            </a:r>
            <a:r>
              <a:rPr lang="en-US" dirty="0" smtClean="0"/>
              <a:t>.</a:t>
            </a:r>
          </a:p>
          <a:p>
            <a:endParaRPr lang="en-US" dirty="0"/>
          </a:p>
          <a:p>
            <a:r>
              <a:rPr lang="en-US" dirty="0"/>
              <a:t>The main aim of this project is to use </a:t>
            </a:r>
            <a:r>
              <a:rPr lang="en-US" b="1" dirty="0"/>
              <a:t>data analysis and visualization to identify useful patterns in farming data</a:t>
            </a:r>
            <a:r>
              <a:rPr lang="en-US" dirty="0"/>
              <a:t> and understand which factors are associated with better crop performance, efficient resource usage and profitability.</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lnSpc>
                <a:spcPct val="150000"/>
              </a:lnSpc>
            </a:pPr>
            <a:r>
              <a:rPr lang="en-US" sz="3600" b="1" dirty="0"/>
              <a:t>Farmers</a:t>
            </a:r>
            <a:r>
              <a:rPr lang="en-US" sz="3600" dirty="0"/>
              <a:t> – to understand crop yield, water usage and profit. </a:t>
            </a:r>
            <a:endParaRPr lang="en-US" sz="3600" dirty="0" smtClean="0"/>
          </a:p>
          <a:p>
            <a:pPr algn="just">
              <a:lnSpc>
                <a:spcPct val="150000"/>
              </a:lnSpc>
            </a:pPr>
            <a:r>
              <a:rPr lang="en-US" sz="3600" b="1" dirty="0" smtClean="0"/>
              <a:t>Agricultural </a:t>
            </a:r>
            <a:r>
              <a:rPr lang="en-US" sz="3600" b="1" dirty="0"/>
              <a:t>officers</a:t>
            </a:r>
            <a:r>
              <a:rPr lang="en-US" sz="3600" dirty="0"/>
              <a:t> – to help farmers make better </a:t>
            </a:r>
            <a:r>
              <a:rPr lang="en-US" sz="3600" dirty="0" smtClean="0"/>
              <a:t>decisions.</a:t>
            </a:r>
          </a:p>
          <a:p>
            <a:pPr algn="just">
              <a:lnSpc>
                <a:spcPct val="150000"/>
              </a:lnSpc>
            </a:pPr>
            <a:r>
              <a:rPr lang="en-US" sz="3600" b="1" dirty="0" smtClean="0"/>
              <a:t>Agricultural </a:t>
            </a:r>
            <a:r>
              <a:rPr lang="en-US" sz="3600" b="1" dirty="0"/>
              <a:t>researchers</a:t>
            </a:r>
            <a:r>
              <a:rPr lang="en-US" sz="3600" dirty="0"/>
              <a:t> – to study farming patterns. </a:t>
            </a:r>
            <a:endParaRPr lang="en-US" sz="3600" dirty="0" smtClean="0"/>
          </a:p>
          <a:p>
            <a:pPr algn="just">
              <a:lnSpc>
                <a:spcPct val="150000"/>
              </a:lnSpc>
            </a:pPr>
            <a:r>
              <a:rPr lang="en-US" sz="3600" b="1" dirty="0" smtClean="0"/>
              <a:t>Agricultural </a:t>
            </a:r>
            <a:r>
              <a:rPr lang="en-US" sz="3600" b="1" dirty="0"/>
              <a:t>companies</a:t>
            </a:r>
            <a:r>
              <a:rPr lang="en-US" sz="3600" dirty="0"/>
              <a:t> – to understand crop production and farming practices. </a:t>
            </a:r>
            <a:endParaRPr lang="en-US" sz="3600" dirty="0" smtClean="0"/>
          </a:p>
          <a:p>
            <a:pPr algn="just">
              <a:lnSpc>
                <a:spcPct val="150000"/>
              </a:lnSpc>
            </a:pPr>
            <a:r>
              <a:rPr lang="en-US" sz="3600" b="1" dirty="0" smtClean="0"/>
              <a:t>Government </a:t>
            </a:r>
            <a:r>
              <a:rPr lang="en-US" sz="3600" b="1" dirty="0"/>
              <a:t>departments</a:t>
            </a:r>
            <a:r>
              <a:rPr lang="en-US" sz="3600" dirty="0"/>
              <a:t> – to support agricultural planning and development.</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b="1" dirty="0"/>
              <a:t>Python</a:t>
            </a:r>
            <a:r>
              <a:rPr lang="en-US" dirty="0"/>
              <a:t> – Programming language used for the project </a:t>
            </a:r>
            <a:endParaRPr lang="en-US" dirty="0" smtClean="0"/>
          </a:p>
          <a:p>
            <a:pPr lvl="1">
              <a:lnSpc>
                <a:spcPct val="150000"/>
              </a:lnSpc>
            </a:pPr>
            <a:r>
              <a:rPr lang="en-US" b="1" dirty="0" smtClean="0"/>
              <a:t>Pandas</a:t>
            </a:r>
            <a:r>
              <a:rPr lang="en-US" dirty="0" smtClean="0"/>
              <a:t> </a:t>
            </a:r>
            <a:r>
              <a:rPr lang="en-US" dirty="0"/>
              <a:t>– Used for data cleaning and analysis </a:t>
            </a:r>
            <a:endParaRPr lang="en-US" dirty="0" smtClean="0"/>
          </a:p>
          <a:p>
            <a:pPr lvl="1">
              <a:lnSpc>
                <a:spcPct val="150000"/>
              </a:lnSpc>
            </a:pPr>
            <a:r>
              <a:rPr lang="en-US" b="1" dirty="0" err="1" smtClean="0"/>
              <a:t>Matplotlib</a:t>
            </a:r>
            <a:r>
              <a:rPr lang="en-US" dirty="0" smtClean="0"/>
              <a:t> </a:t>
            </a:r>
            <a:r>
              <a:rPr lang="en-US" dirty="0"/>
              <a:t>– Used for creating graphs and visualizations </a:t>
            </a:r>
            <a:endParaRPr lang="en-US" dirty="0" smtClean="0"/>
          </a:p>
          <a:p>
            <a:pPr lvl="1">
              <a:lnSpc>
                <a:spcPct val="150000"/>
              </a:lnSpc>
            </a:pPr>
            <a:r>
              <a:rPr lang="en-US" b="1" dirty="0" err="1" smtClean="0"/>
              <a:t>Seaborn</a:t>
            </a:r>
            <a:r>
              <a:rPr lang="en-US" b="1" dirty="0" smtClean="0"/>
              <a:t> </a:t>
            </a:r>
            <a:r>
              <a:rPr lang="en-US" b="1" dirty="0"/>
              <a:t>(</a:t>
            </a:r>
            <a:r>
              <a:rPr lang="en-US" b="1" dirty="0" err="1"/>
              <a:t>sns</a:t>
            </a:r>
            <a:r>
              <a:rPr lang="en-US" b="1" dirty="0"/>
              <a:t>)</a:t>
            </a:r>
            <a:r>
              <a:rPr lang="en-US" dirty="0"/>
              <a:t> – Used for creating attractive statistical graphs </a:t>
            </a:r>
            <a:endParaRPr lang="en-US" dirty="0" smtClean="0"/>
          </a:p>
          <a:p>
            <a:pPr lvl="1">
              <a:lnSpc>
                <a:spcPct val="150000"/>
              </a:lnSpc>
            </a:pPr>
            <a:r>
              <a:rPr lang="en-US" b="1" dirty="0" smtClean="0"/>
              <a:t>Google </a:t>
            </a:r>
            <a:r>
              <a:rPr lang="en-US" b="1" dirty="0" err="1"/>
              <a:t>Colab</a:t>
            </a:r>
            <a:r>
              <a:rPr lang="en-US" dirty="0"/>
              <a:t> – Used to write and run the Python code </a:t>
            </a:r>
            <a:r>
              <a:rPr lang="en-US" dirty="0" err="1"/>
              <a:t>onlin</a:t>
            </a: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141" y="1303338"/>
            <a:ext cx="9215252" cy="469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smtClean="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 y="1275371"/>
            <a:ext cx="3872661" cy="3576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076" y="1197769"/>
            <a:ext cx="3743325" cy="349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213" y="1065109"/>
            <a:ext cx="6554788"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2660" y="4163508"/>
            <a:ext cx="5103765" cy="2501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08" y="1710752"/>
            <a:ext cx="2565507" cy="236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75957" y="1187532"/>
            <a:ext cx="2898516" cy="523220"/>
          </a:xfrm>
          <a:prstGeom prst="rect">
            <a:avLst/>
          </a:prstGeom>
          <a:noFill/>
        </p:spPr>
        <p:txBody>
          <a:bodyPr wrap="square" rtlCol="0">
            <a:spAutoFit/>
          </a:bodyPr>
          <a:lstStyle/>
          <a:p>
            <a:r>
              <a:rPr lang="en-IN" sz="1400" dirty="0" smtClean="0"/>
              <a:t>Average Yield w.r.t Each in Different Seasons</a:t>
            </a:r>
            <a:endParaRPr lang="en-IN" sz="1400" dirty="0"/>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8827" y="1935787"/>
            <a:ext cx="5983288"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3438827" y="1187532"/>
            <a:ext cx="6180186" cy="523220"/>
          </a:xfrm>
          <a:prstGeom prst="rect">
            <a:avLst/>
          </a:prstGeom>
          <a:noFill/>
        </p:spPr>
        <p:txBody>
          <a:bodyPr wrap="square" rtlCol="0">
            <a:spAutoFit/>
          </a:bodyPr>
          <a:lstStyle/>
          <a:p>
            <a:r>
              <a:rPr lang="en-IN" sz="1400" dirty="0" smtClean="0"/>
              <a:t>Average Yield in different environmental conditions with respect to each crop in different seasons</a:t>
            </a:r>
            <a:endParaRPr lang="en-IN" sz="1400" dirty="0"/>
          </a:p>
        </p:txBody>
      </p:sp>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957" y="4277818"/>
            <a:ext cx="535305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6163294" y="4714504"/>
            <a:ext cx="2873828" cy="523220"/>
          </a:xfrm>
          <a:prstGeom prst="rect">
            <a:avLst/>
          </a:prstGeom>
          <a:noFill/>
        </p:spPr>
        <p:txBody>
          <a:bodyPr wrap="square" rtlCol="0">
            <a:spAutoFit/>
          </a:bodyPr>
          <a:lstStyle/>
          <a:p>
            <a:r>
              <a:rPr lang="en-IN" sz="1400" dirty="0" smtClean="0"/>
              <a:t>Environmental conditions of each season in different states </a:t>
            </a:r>
            <a:endParaRPr lang="en-IN" sz="1400" dirty="0"/>
          </a:p>
        </p:txBody>
      </p:sp>
      <p:cxnSp>
        <p:nvCxnSpPr>
          <p:cNvPr id="13" name="Straight Arrow Connector 12"/>
          <p:cNvCxnSpPr>
            <a:stCxn id="11" idx="1"/>
          </p:cNvCxnSpPr>
          <p:nvPr/>
        </p:nvCxnSpPr>
        <p:spPr>
          <a:xfrm flipH="1">
            <a:off x="5902036" y="4976114"/>
            <a:ext cx="261258" cy="0"/>
          </a:xfrm>
          <a:prstGeom prst="straightConnector1">
            <a:avLst/>
          </a:prstGeom>
          <a:ln w="3492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752" y="1608410"/>
            <a:ext cx="3381643" cy="253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9395" y="812763"/>
            <a:ext cx="4486275"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755" y="4146595"/>
            <a:ext cx="3721636" cy="2649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5177" y="4215632"/>
            <a:ext cx="3244078" cy="2511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633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66" y="1941449"/>
            <a:ext cx="50577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41" y="1941449"/>
            <a:ext cx="3924300"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3415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104" y="322199"/>
            <a:ext cx="7564234" cy="3046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957" y="3271520"/>
            <a:ext cx="39243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5590" y="3407263"/>
            <a:ext cx="4981575"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80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183" y="1167081"/>
            <a:ext cx="4619625"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8260" y="1275371"/>
            <a:ext cx="4562475"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599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1634" y="1275371"/>
            <a:ext cx="6573838"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891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950026" y="1472540"/>
            <a:ext cx="6353299" cy="3139321"/>
          </a:xfrm>
          <a:prstGeom prst="rect">
            <a:avLst/>
          </a:prstGeom>
          <a:noFill/>
        </p:spPr>
        <p:txBody>
          <a:bodyPr wrap="square" rtlCol="0">
            <a:spAutoFit/>
          </a:bodyPr>
          <a:lstStyle/>
          <a:p>
            <a:pPr marL="285750" indent="-285750">
              <a:buFont typeface="Arial" pitchFamily="34" charset="0"/>
              <a:buChar char="•"/>
            </a:pPr>
            <a:r>
              <a:rPr lang="en-US" b="1" dirty="0"/>
              <a:t>Crop yield prediction </a:t>
            </a:r>
            <a:r>
              <a:rPr lang="en-US" dirty="0"/>
              <a:t>using machine learning. </a:t>
            </a:r>
            <a:endParaRPr lang="en-US" dirty="0" smtClean="0"/>
          </a:p>
          <a:p>
            <a:pPr marL="285750" indent="-285750">
              <a:buFont typeface="Arial" pitchFamily="34" charset="0"/>
              <a:buChar char="•"/>
            </a:pPr>
            <a:r>
              <a:rPr lang="en-US" b="1" dirty="0" smtClean="0"/>
              <a:t>Weather-based </a:t>
            </a:r>
            <a:r>
              <a:rPr lang="en-US" b="1" dirty="0"/>
              <a:t>analysis </a:t>
            </a:r>
            <a:r>
              <a:rPr lang="en-US" dirty="0"/>
              <a:t>to help farmers plan crops. </a:t>
            </a:r>
            <a:endParaRPr lang="en-US" dirty="0" smtClean="0"/>
          </a:p>
          <a:p>
            <a:pPr marL="285750" indent="-285750">
              <a:buFont typeface="Arial" pitchFamily="34" charset="0"/>
              <a:buChar char="•"/>
            </a:pPr>
            <a:r>
              <a:rPr lang="en-US" b="1" dirty="0" smtClean="0"/>
              <a:t>Smart </a:t>
            </a:r>
            <a:r>
              <a:rPr lang="en-US" b="1" dirty="0"/>
              <a:t>irrigation recommendations </a:t>
            </a:r>
            <a:r>
              <a:rPr lang="en-US" dirty="0"/>
              <a:t>to reduce water wastage. </a:t>
            </a:r>
            <a:endParaRPr lang="en-US" dirty="0" smtClean="0"/>
          </a:p>
          <a:p>
            <a:pPr marL="285750" indent="-285750">
              <a:buFont typeface="Arial" pitchFamily="34" charset="0"/>
              <a:buChar char="•"/>
            </a:pPr>
            <a:r>
              <a:rPr lang="en-US" b="1" dirty="0" smtClean="0"/>
              <a:t>Disease </a:t>
            </a:r>
            <a:r>
              <a:rPr lang="en-US" b="1" dirty="0"/>
              <a:t>and pest prediction </a:t>
            </a:r>
            <a:r>
              <a:rPr lang="en-US" dirty="0"/>
              <a:t>for early action. </a:t>
            </a:r>
            <a:endParaRPr lang="en-US" dirty="0" smtClean="0"/>
          </a:p>
          <a:p>
            <a:pPr marL="285750" indent="-285750">
              <a:buFont typeface="Arial" pitchFamily="34" charset="0"/>
              <a:buChar char="•"/>
            </a:pPr>
            <a:r>
              <a:rPr lang="en-US" b="1" dirty="0" smtClean="0"/>
              <a:t>Crop </a:t>
            </a:r>
            <a:r>
              <a:rPr lang="en-US" b="1" dirty="0"/>
              <a:t>and fertilizer recommendations </a:t>
            </a:r>
            <a:r>
              <a:rPr lang="en-US" dirty="0"/>
              <a:t>based on soil conditions. </a:t>
            </a:r>
            <a:endParaRPr lang="en-US" dirty="0" smtClean="0"/>
          </a:p>
          <a:p>
            <a:pPr marL="285750" indent="-285750">
              <a:buFont typeface="Arial" pitchFamily="34" charset="0"/>
              <a:buChar char="•"/>
            </a:pPr>
            <a:r>
              <a:rPr lang="en-US" b="1" dirty="0" smtClean="0"/>
              <a:t>Real-time </a:t>
            </a:r>
            <a:r>
              <a:rPr lang="en-US" b="1" dirty="0"/>
              <a:t>agricultural dashboard </a:t>
            </a:r>
            <a:r>
              <a:rPr lang="en-US" dirty="0"/>
              <a:t>to monitor farm performance. </a:t>
            </a:r>
            <a:endParaRPr lang="en-US" dirty="0" smtClean="0"/>
          </a:p>
          <a:p>
            <a:pPr marL="285750" indent="-285750">
              <a:buFont typeface="Arial" pitchFamily="34" charset="0"/>
              <a:buChar char="•"/>
            </a:pPr>
            <a:r>
              <a:rPr lang="en-US" b="1" dirty="0" smtClean="0"/>
              <a:t>Mobile </a:t>
            </a:r>
            <a:r>
              <a:rPr lang="en-US" b="1" dirty="0"/>
              <a:t>application </a:t>
            </a:r>
            <a:r>
              <a:rPr lang="en-US" dirty="0"/>
              <a:t>so farmers can easily access the results.</a:t>
            </a: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478035" y="2115849"/>
            <a:ext cx="8274080" cy="369332"/>
          </a:xfrm>
          <a:prstGeom prst="rect">
            <a:avLst/>
          </a:prstGeom>
        </p:spPr>
        <p:txBody>
          <a:bodyPr wrap="square">
            <a:spAutoFit/>
          </a:bodyPr>
          <a:lstStyle/>
          <a:p>
            <a:r>
              <a:rPr lang="en-IN" dirty="0"/>
              <a:t>https://github.com/C-ROSELYN/Seasonal-Agriculture-Performance-Analysis.git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982" y="1608410"/>
            <a:ext cx="5878512"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426000" y="2607128"/>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1413</TotalTime>
  <Words>490</Words>
  <Application>Microsoft Office PowerPoint</Application>
  <PresentationFormat>Custom</PresentationFormat>
  <Paragraphs>51</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PowerPoint Presentation</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admin</cp:lastModifiedBy>
  <cp:revision>104</cp:revision>
  <dcterms:created xsi:type="dcterms:W3CDTF">2021-07-11T13:13:15Z</dcterms:created>
  <dcterms:modified xsi:type="dcterms:W3CDTF">2026-09-15T17:14:10Z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